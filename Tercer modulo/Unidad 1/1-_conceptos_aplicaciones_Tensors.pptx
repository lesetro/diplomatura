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57" r:id="rId4"/>
    <p:sldId id="273" r:id="rId5"/>
    <p:sldId id="259" r:id="rId6"/>
    <p:sldId id="260" r:id="rId7"/>
    <p:sldId id="264" r:id="rId8"/>
    <p:sldId id="274" r:id="rId9"/>
    <p:sldId id="258" r:id="rId10"/>
    <p:sldId id="261" r:id="rId11"/>
    <p:sldId id="262" r:id="rId12"/>
    <p:sldId id="276" r:id="rId13"/>
    <p:sldId id="277" r:id="rId14"/>
    <p:sldId id="263" r:id="rId15"/>
    <p:sldId id="278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D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mnw6mL__F5RKEj_Pac_1ACqVxFkaIAt/view?usp=sharing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file/d/18cYEssfI4W70ZWsdXRyBpbGnFRZbQsDu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">
            <a:extLst>
              <a:ext uri="{FF2B5EF4-FFF2-40B4-BE49-F238E27FC236}">
                <a16:creationId xmlns:a16="http://schemas.microsoft.com/office/drawing/2014/main" id="{58DC9247-0A51-79D1-F5A8-687B92AD9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0"/>
            <a:ext cx="16002000" cy="922166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0E75A05-6C10-3D20-4ADA-6CCC92F57EFD}"/>
              </a:ext>
            </a:extLst>
          </p:cNvPr>
          <p:cNvSpPr txBox="1"/>
          <p:nvPr/>
        </p:nvSpPr>
        <p:spPr>
          <a:xfrm>
            <a:off x="4775200" y="7543800"/>
            <a:ext cx="5663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dirty="0">
                <a:solidFill>
                  <a:srgbClr val="00B0F0"/>
                </a:solidFill>
              </a:rPr>
              <a:t>1. Conceptos, Aplicaciones y Tensores</a:t>
            </a:r>
          </a:p>
        </p:txBody>
      </p:sp>
    </p:spTree>
    <p:extLst>
      <p:ext uri="{BB962C8B-B14F-4D97-AF65-F5344CB8AC3E}">
        <p14:creationId xmlns:p14="http://schemas.microsoft.com/office/powerpoint/2010/main" val="107617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4B4D82-DEBF-6159-984D-761F1F0AC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0D61D4-AD4B-20B8-92E7-CE7035F1EEAD}"/>
              </a:ext>
            </a:extLst>
          </p:cNvPr>
          <p:cNvSpPr txBox="1"/>
          <p:nvPr/>
        </p:nvSpPr>
        <p:spPr>
          <a:xfrm>
            <a:off x="3632200" y="858082"/>
            <a:ext cx="81272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ES" sz="4000" b="1" i="0" dirty="0">
                <a:solidFill>
                  <a:schemeClr val="tx2"/>
                </a:solidFill>
                <a:effectLst/>
              </a:rPr>
              <a:t>¿Qué es el Deep </a:t>
            </a:r>
            <a:r>
              <a:rPr lang="es-ES" sz="4000" b="1" i="0" dirty="0" err="1">
                <a:solidFill>
                  <a:schemeClr val="tx2"/>
                </a:solidFill>
                <a:effectLst/>
              </a:rPr>
              <a:t>Learning</a:t>
            </a:r>
            <a:r>
              <a:rPr lang="es-ES" sz="4000" b="1" i="0" dirty="0">
                <a:solidFill>
                  <a:schemeClr val="tx2"/>
                </a:solidFill>
                <a:effectLst/>
              </a:rPr>
              <a:t>?</a:t>
            </a:r>
            <a:endParaRPr lang="es-ES" sz="4000" dirty="0">
              <a:solidFill>
                <a:schemeClr val="tx2"/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09571D3-7DE2-C23F-E423-3267DA59033B}"/>
              </a:ext>
            </a:extLst>
          </p:cNvPr>
          <p:cNvSpPr txBox="1"/>
          <p:nvPr/>
        </p:nvSpPr>
        <p:spPr>
          <a:xfrm>
            <a:off x="1270000" y="2590800"/>
            <a:ext cx="13868400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rtl="0"/>
            <a:r>
              <a:rPr lang="es-ES" sz="2800" b="1" i="0" dirty="0">
                <a:solidFill>
                  <a:schemeClr val="tx2"/>
                </a:solidFill>
                <a:effectLst/>
              </a:rPr>
              <a:t>El </a:t>
            </a:r>
            <a:r>
              <a:rPr lang="es-ES" sz="2800" b="1" i="0" dirty="0" err="1">
                <a:solidFill>
                  <a:schemeClr val="tx2"/>
                </a:solidFill>
                <a:effectLst/>
              </a:rPr>
              <a:t>deep</a:t>
            </a:r>
            <a:r>
              <a:rPr lang="es-ES" sz="2800" b="1" i="0" dirty="0">
                <a:solidFill>
                  <a:schemeClr val="tx2"/>
                </a:solidFill>
                <a:effectLst/>
              </a:rPr>
              <a:t> </a:t>
            </a:r>
            <a:r>
              <a:rPr lang="es-ES" sz="2800" b="1" i="0" dirty="0" err="1">
                <a:solidFill>
                  <a:schemeClr val="tx2"/>
                </a:solidFill>
                <a:effectLst/>
              </a:rPr>
              <a:t>learning</a:t>
            </a:r>
            <a:r>
              <a:rPr lang="es-ES" sz="2800" b="1" i="0" dirty="0">
                <a:solidFill>
                  <a:schemeClr val="tx2"/>
                </a:solidFill>
                <a:effectLst/>
              </a:rPr>
              <a:t> (aprendizaje profundo) </a:t>
            </a:r>
            <a:r>
              <a:rPr lang="es-ES" sz="2800" b="0" i="0" dirty="0">
                <a:solidFill>
                  <a:srgbClr val="000000"/>
                </a:solidFill>
                <a:effectLst/>
              </a:rPr>
              <a:t>es una técnica de inteligencia artificial que consiste en enseñar a las computadoras a procesar los datos utilizando algoritmos inspirados en el cerebro humano. </a:t>
            </a:r>
            <a:endParaRPr lang="es-ES" sz="2800" dirty="0">
              <a:effectLst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8F1EF0-EFCB-A7CC-1F45-F8AD82D007F7}"/>
              </a:ext>
            </a:extLst>
          </p:cNvPr>
          <p:cNvSpPr txBox="1"/>
          <p:nvPr/>
        </p:nvSpPr>
        <p:spPr>
          <a:xfrm>
            <a:off x="1346200" y="5029200"/>
            <a:ext cx="13868400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 i="0">
                <a:solidFill>
                  <a:schemeClr val="tx2"/>
                </a:solidFill>
                <a:effectLst/>
              </a:defRPr>
            </a:lvl1pPr>
          </a:lstStyle>
          <a:p>
            <a:r>
              <a:rPr lang="es-ES" b="0" dirty="0">
                <a:solidFill>
                  <a:schemeClr val="tx1"/>
                </a:solidFill>
              </a:rPr>
              <a:t>Este proceso, también conocido como </a:t>
            </a:r>
            <a:r>
              <a:rPr lang="es-ES" dirty="0"/>
              <a:t>aprendizaje neuronal profundo o redes neuronales profundas, </a:t>
            </a:r>
            <a:r>
              <a:rPr lang="es-ES" b="0" dirty="0">
                <a:solidFill>
                  <a:schemeClr val="tx1"/>
                </a:solidFill>
              </a:rPr>
              <a:t>consiste en que las computadoras adquieran el aprendizaje a través de la observación, de manera similar a las personas.</a:t>
            </a:r>
          </a:p>
        </p:txBody>
      </p:sp>
    </p:spTree>
    <p:extLst>
      <p:ext uri="{BB962C8B-B14F-4D97-AF65-F5344CB8AC3E}">
        <p14:creationId xmlns:p14="http://schemas.microsoft.com/office/powerpoint/2010/main" val="1770805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4824A99-143D-E2B6-0612-49399EC2E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B7A2C8-F663-FE25-ECD7-47EF6D74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EF04B2-5FBC-9DE3-D201-A9101AB43AF8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agrama, Escala de tiempo">
            <a:extLst>
              <a:ext uri="{FF2B5EF4-FFF2-40B4-BE49-F238E27FC236}">
                <a16:creationId xmlns:a16="http://schemas.microsoft.com/office/drawing/2014/main" id="{FA96882B-7037-90AE-30BC-E53C6CCC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48614"/>
            <a:ext cx="16129000" cy="891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5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10438CE-D636-137F-0C1B-E5527A34CEA1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67942A3-4010-FE93-A6F0-9D77BE4C0090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02462B7-E4ED-2943-8C3A-201A4E0694C0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AC1E327-D311-0159-08EE-399EEB287478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rgbClr val="111D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BE02752-253E-A436-8692-F4333703697A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03C5EC3-2D0C-4D6F-0F63-A7FCB3801BB7}"/>
              </a:ext>
            </a:extLst>
          </p:cNvPr>
          <p:cNvSpPr/>
          <p:nvPr/>
        </p:nvSpPr>
        <p:spPr>
          <a:xfrm>
            <a:off x="14757400" y="8724901"/>
            <a:ext cx="1498600" cy="419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88664F1-43B9-DA74-2CF1-F8C5AA33316B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rgbClr val="111D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F1BC04D-1EB9-7097-59B9-61C287A3C1DD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rgbClr val="111D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3949EFC-F861-BFC9-F2DE-31DF7BC97384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rgbClr val="111D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C57F24B-750D-E854-5400-FF0B3A848487}"/>
              </a:ext>
            </a:extLst>
          </p:cNvPr>
          <p:cNvSpPr/>
          <p:nvPr/>
        </p:nvSpPr>
        <p:spPr>
          <a:xfrm>
            <a:off x="14757400" y="8686800"/>
            <a:ext cx="1498600" cy="419099"/>
          </a:xfrm>
          <a:prstGeom prst="rect">
            <a:avLst/>
          </a:prstGeom>
          <a:solidFill>
            <a:srgbClr val="111D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hlinkClick r:id="rId3"/>
            <a:extLst>
              <a:ext uri="{FF2B5EF4-FFF2-40B4-BE49-F238E27FC236}">
                <a16:creationId xmlns:a16="http://schemas.microsoft.com/office/drawing/2014/main" id="{7B0F543B-6DCB-8313-48A6-44F768485F8A}"/>
              </a:ext>
            </a:extLst>
          </p:cNvPr>
          <p:cNvSpPr txBox="1"/>
          <p:nvPr/>
        </p:nvSpPr>
        <p:spPr>
          <a:xfrm>
            <a:off x="7948393" y="8382000"/>
            <a:ext cx="3809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FFFF00"/>
                </a:solidFill>
              </a:rPr>
              <a:t>Video explicando el Ejercicio</a:t>
            </a:r>
          </a:p>
        </p:txBody>
      </p:sp>
      <p:sp>
        <p:nvSpPr>
          <p:cNvPr id="7" name="CuadroTexto 6">
            <a:hlinkClick r:id="rId4"/>
            <a:extLst>
              <a:ext uri="{FF2B5EF4-FFF2-40B4-BE49-F238E27FC236}">
                <a16:creationId xmlns:a16="http://schemas.microsoft.com/office/drawing/2014/main" id="{2EEA7C3B-246C-3349-13DF-970F26032B9E}"/>
              </a:ext>
            </a:extLst>
          </p:cNvPr>
          <p:cNvSpPr txBox="1"/>
          <p:nvPr/>
        </p:nvSpPr>
        <p:spPr>
          <a:xfrm>
            <a:off x="4699000" y="8382000"/>
            <a:ext cx="2560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FFFF00"/>
                </a:solidFill>
              </a:rPr>
              <a:t>Ejercicio Practico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88</Words>
  <Application>Microsoft Office PowerPoint</Application>
  <PresentationFormat>Personalizado</PresentationFormat>
  <Paragraphs>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csaez</dc:creator>
  <cp:lastModifiedBy>cris saez</cp:lastModifiedBy>
  <cp:revision>4</cp:revision>
  <dcterms:created xsi:type="dcterms:W3CDTF">2006-08-16T00:00:00Z</dcterms:created>
  <dcterms:modified xsi:type="dcterms:W3CDTF">2026-08-20T02:11:07Z</dcterms:modified>
</cp:coreProperties>
</file>